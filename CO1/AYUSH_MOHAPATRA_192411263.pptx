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F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A3F55"/>
                </a:solidFill>
                <a:latin typeface="Arial"/>
              </a:rPr>
              <a:t>Image Quality (PSNR) vs Payload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KB</c:v>
                </c:pt>
                <c:pt idx="1">
                  <c:v>50 KB</c:v>
                </c:pt>
                <c:pt idx="2">
                  <c:v>100 KB</c:v>
                </c:pt>
                <c:pt idx="3">
                  <c:v>200 KB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58.4</c:v>
                </c:pt>
                <c:pt idx="1">
                  <c:v>51.2</c:v>
                </c:pt>
                <c:pt idx="2">
                  <c:v>46.7</c:v>
                </c:pt>
                <c:pt idx="3">
                  <c:v>39.799999999999997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9C-445E-BD9B-2170B4F090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A3F55"/>
                    </a:solidFill>
                    <a:latin typeface="Arial"/>
                  </a:rPr>
                  <a:t>PSNR (dB)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761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291840" cy="329184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5" name="Image 0" descr="/home/claude/icons/lock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DATA PROTECTION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 vs Cryptography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Security in the Digital World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Two Foundational Approaches to Securing Information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AYUSH MOHAPATRA |   192411263    |   AT3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presentation, mapped to the evaluation criteria for this project.</a:t>
            </a:r>
            <a:endParaRPr lang="en-US" sz="1300" dirty="0"/>
          </a:p>
        </p:txBody>
      </p:sp>
      <p:pic>
        <p:nvPicPr>
          <p:cNvPr id="5" name="Image 0" descr="/home/claude/icons/shield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5943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120640" y="6400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20640" y="103327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cryptography and steganography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722376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15544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120640" y="16002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120640" y="19933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approaches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2468880"/>
            <a:ext cx="722376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5146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120640" y="25603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Types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120640" y="295351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hiding methods explored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3429000"/>
            <a:ext cx="722376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34747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120640" y="352044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120640" y="39136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and implementation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97680" y="4389120"/>
            <a:ext cx="722376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44348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120640" y="44805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120640" y="487375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interpretation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97680" y="5349240"/>
            <a:ext cx="722376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97680" y="53949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5120640" y="54406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Conclusion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120640" y="583387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and key takeaways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Cryptography?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9AA3B5">
                <a:alpha val="25000"/>
              </a:srgbClr>
            </a:outerShdw>
          </a:effectLst>
        </p:spPr>
      </p:sp>
      <p:pic>
        <p:nvPicPr>
          <p:cNvPr id="5" name="Image 0" descr="/home/claude/icons/ke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01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converting readable data (plaintext) into an unreadable form (ciphertext) using mathematical algorithms and keys, so that only authorized parties can decode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Goals</a:t>
            </a:r>
            <a:endParaRPr lang="en-US" sz="1400" dirty="0"/>
          </a:p>
        </p:txBody>
      </p:sp>
      <p:pic>
        <p:nvPicPr>
          <p:cNvPr id="9" name="Image 1" descr="/home/claude/icons/check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31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8770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keep data secret</a:t>
            </a:r>
            <a:endParaRPr lang="en-US" sz="1250" dirty="0"/>
          </a:p>
        </p:txBody>
      </p:sp>
      <p:pic>
        <p:nvPicPr>
          <p:cNvPr id="11" name="Image 2" descr="/home/claude/icons/check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159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26110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detect tampering</a:t>
            </a:r>
            <a:endParaRPr lang="en-US" sz="1250" dirty="0"/>
          </a:p>
        </p:txBody>
      </p:sp>
      <p:pic>
        <p:nvPicPr>
          <p:cNvPr id="13" name="Image 3" descr="/home/claude/icons/check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0001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verify identity</a:t>
            </a:r>
            <a:endParaRPr lang="en-US" sz="1250" dirty="0"/>
          </a:p>
        </p:txBody>
      </p:sp>
      <p:pic>
        <p:nvPicPr>
          <p:cNvPr id="15" name="Image 4" descr="/home/claude/icons/check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8406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70432" y="50292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 — prevent denial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49224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8" name="Text 11"/>
          <p:cNvSpPr/>
          <p:nvPr/>
        </p:nvSpPr>
        <p:spPr>
          <a:xfrm>
            <a:off x="68580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Action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858000" y="23317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24316E"/>
          </a:solidFill>
          <a:ln/>
        </p:spPr>
      </p:sp>
      <p:sp>
        <p:nvSpPr>
          <p:cNvPr id="20" name="Text 13"/>
          <p:cNvSpPr/>
          <p:nvPr/>
        </p:nvSpPr>
        <p:spPr>
          <a:xfrm>
            <a:off x="6858000" y="23317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858000" y="30358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00" dirty="0"/>
          </a:p>
        </p:txBody>
      </p:sp>
      <p:pic>
        <p:nvPicPr>
          <p:cNvPr id="22" name="Image 5" descr="/home/claude/icons/key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3364992"/>
            <a:ext cx="411480" cy="4114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52560" y="3017520"/>
            <a:ext cx="0" cy="36576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052560" y="3794760"/>
            <a:ext cx="0" cy="36576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858000" y="420624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00D9FF"/>
          </a:solidFill>
          <a:ln/>
        </p:spPr>
      </p:sp>
      <p:sp>
        <p:nvSpPr>
          <p:cNvPr id="26" name="Text 18"/>
          <p:cNvSpPr/>
          <p:nvPr/>
        </p:nvSpPr>
        <p:spPr>
          <a:xfrm>
            <a:off x="6858000" y="42062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X$k#9zQ!mP&amp;2vL@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858000" y="4910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858000" y="5394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but unreadable without the key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Steganography?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 in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389120" cy="2377440"/>
          </a:xfrm>
          <a:prstGeom prst="roundRect">
            <a:avLst>
              <a:gd name="adj" fmla="val 3077"/>
            </a:avLst>
          </a:prstGeom>
          <a:solidFill>
            <a:srgbClr val="24316E"/>
          </a:solidFill>
          <a:ln w="19050">
            <a:solidFill>
              <a:srgbClr val="00D9FF"/>
            </a:solidFill>
            <a:prstDash val="dash"/>
          </a:ln>
        </p:spPr>
      </p:sp>
      <p:pic>
        <p:nvPicPr>
          <p:cNvPr id="7" name="Image 0" descr="/home/claude/icons/image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0632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Ordinary-looking image.jpg</a:t>
            </a:r>
            <a:endParaRPr lang="en-US" sz="1100" dirty="0"/>
          </a:p>
        </p:txBody>
      </p:sp>
      <p:pic>
        <p:nvPicPr>
          <p:cNvPr id="9" name="Image 1" descr="/home/claude/icons/eyeslash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514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892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message hidden inside pixel data — invisible to the eye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89320" y="1600200"/>
            <a:ext cx="56235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9AA3B5">
                <a:alpha val="25000"/>
              </a:srgbClr>
            </a:outerShdw>
          </a:effectLst>
        </p:spPr>
      </p:sp>
      <p:pic>
        <p:nvPicPr>
          <p:cNvPr id="12" name="Image 2" descr="/home/claude/icons/mas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745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901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09360" y="24688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concealing the very existence of a message by embedding it within an innocent-looking carrier — an image, audio clip, video, or text — so observers don't suspect any hidden data exists.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Goals</a:t>
            </a:r>
            <a:endParaRPr lang="en-US" sz="1400" dirty="0"/>
          </a:p>
        </p:txBody>
      </p:sp>
      <p:pic>
        <p:nvPicPr>
          <p:cNvPr id="16" name="Image 3" descr="/home/claude/icons/check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2336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11112" y="396849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Obscurity — hide that data exists</a:t>
            </a:r>
            <a:endParaRPr lang="en-US" sz="1250" dirty="0"/>
          </a:p>
        </p:txBody>
      </p:sp>
      <p:pic>
        <p:nvPicPr>
          <p:cNvPr id="18" name="Image 4" descr="/home/claude/icons/check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40740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11112" y="435254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Undetectability — evade suspicion</a:t>
            </a:r>
            <a:endParaRPr lang="en-US" sz="1250" dirty="0"/>
          </a:p>
        </p:txBody>
      </p:sp>
      <p:pic>
        <p:nvPicPr>
          <p:cNvPr id="20" name="Image 5" descr="/home/claude/icons/check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791456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11112" y="47365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 channel</a:t>
            </a:r>
            <a:endParaRPr lang="en-US" sz="1250" dirty="0"/>
          </a:p>
        </p:txBody>
      </p:sp>
      <p:pic>
        <p:nvPicPr>
          <p:cNvPr id="22" name="Image 6" descr="/home/claude/icons/check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175504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11112" y="512064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files look unmodified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vs Steganography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— protecting information — two fundamentally different strategies.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0" cy="50292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0" y="1600200"/>
            <a:ext cx="4023360" cy="502920"/>
          </a:xfrm>
          <a:prstGeom prst="rect">
            <a:avLst/>
          </a:prstGeom>
          <a:solidFill>
            <a:srgbClr val="0D3B4A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1000" y="1600200"/>
            <a:ext cx="3611880" cy="502920"/>
          </a:xfrm>
          <a:prstGeom prst="rect">
            <a:avLst/>
          </a:prstGeom>
          <a:solidFill>
            <a:srgbClr val="5A1E2E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2103120"/>
            <a:ext cx="402336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103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unreadable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103120"/>
            <a:ext cx="361188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1031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undetectable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334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2633472"/>
            <a:ext cx="402336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63347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of message is visible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2633472"/>
            <a:ext cx="361188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63347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of message is hidden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63824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6382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94760" y="3163824"/>
            <a:ext cx="402336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1638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looks random / scrambled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3163824"/>
            <a:ext cx="361188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16382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file looks completely normal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94176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9417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94760" y="3694176"/>
            <a:ext cx="402336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6941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secret key to reverse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01000" y="3694176"/>
            <a:ext cx="361188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69417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or may not use a key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22452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94760" y="4224528"/>
            <a:ext cx="402336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2245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knows data is protected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01000" y="4224528"/>
            <a:ext cx="361188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22452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may not know data exists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75488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capacity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94760" y="4754880"/>
            <a:ext cx="402336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47548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transform data of any size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01000" y="4754880"/>
            <a:ext cx="3611880" cy="530352"/>
          </a:xfrm>
          <a:prstGeom prst="rect">
            <a:avLst/>
          </a:prstGeom>
          <a:solidFill>
            <a:srgbClr val="1B2456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75488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carrier file capacity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285232"/>
            <a:ext cx="3108960" cy="530352"/>
          </a:xfrm>
          <a:prstGeom prst="rect">
            <a:avLst/>
          </a:prstGeom>
          <a:solidFill>
            <a:srgbClr val="141B45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28523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for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94760" y="5285232"/>
            <a:ext cx="402336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52852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content against reading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01000" y="5285232"/>
            <a:ext cx="3611880" cy="530352"/>
          </a:xfrm>
          <a:prstGeom prst="rect">
            <a:avLst/>
          </a:prstGeom>
          <a:solidFill>
            <a:srgbClr val="202B63"/>
          </a:solidFill>
          <a:ln w="6350">
            <a:solidFill>
              <a:srgbClr val="2B36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28523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Concealing communication itself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Cryptography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key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Symmetric-key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1012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encrypts and decrypts. Fast and efficient for bulk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2880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773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AES, DES, ChaCha20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exchange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112264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Asymmetric-key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09160" y="331012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encrypts, private key decrypts. Solves key-sharing problem.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4434840"/>
            <a:ext cx="2880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09160" y="4773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ECC, Diffie-Hellman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22960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49640" y="1920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icons/fingerprint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112264"/>
            <a:ext cx="393192" cy="3931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49640" y="331012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transformation producing a fixed-size digest to verify integrity.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549640" y="4434840"/>
            <a:ext cx="2880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49640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549640" y="4773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MD5, BLAKE2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48640" y="5166360"/>
            <a:ext cx="11201400" cy="91440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/>
        </p:spPr>
      </p:sp>
      <p:pic>
        <p:nvPicPr>
          <p:cNvPr id="29" name="Image 3" descr="/home/claude/icons/balanc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949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53492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Symmetric is faster but needs secure key exchange; asymmetric solves that at the cost of speed — many real systems combine both.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Steganography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image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345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Steganography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data in pixel values using LSB substitution or DCT coefficients.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502920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029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10712" y="160020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music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20345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Steganography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93592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bits in audio samples via LSB, echo hiding, or phase coding.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93592" y="502920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17" name="Text 13"/>
          <p:cNvSpPr/>
          <p:nvPr/>
        </p:nvSpPr>
        <p:spPr>
          <a:xfrm>
            <a:off x="3593592" y="5029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carrier capacity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72784" y="160020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video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20345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Steganography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55664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hidden data across video frames, combining image + audio.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55664" y="502920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24" name="Text 19"/>
          <p:cNvSpPr/>
          <p:nvPr/>
        </p:nvSpPr>
        <p:spPr>
          <a:xfrm>
            <a:off x="6455664" y="5029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capacity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134856" y="160020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88900" dist="254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17736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file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7756" y="20345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17736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Steganography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17736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whitespace, synonyms, or formatting patterns to encode bits.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317736" y="502920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31" name="Text 25"/>
          <p:cNvSpPr/>
          <p:nvPr/>
        </p:nvSpPr>
        <p:spPr>
          <a:xfrm>
            <a:off x="9317736" y="5029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capacity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Stronger Together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both techniques means an attacker must first detect hidden data, then break its encryption.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pic>
        <p:nvPicPr>
          <p:cNvPr id="5" name="Image 0" descr="/home/claude/icons/file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2194560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971800" y="2834640"/>
            <a:ext cx="518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89960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pic>
        <p:nvPicPr>
          <p:cNvPr id="9" name="Image 1" descr="/home/claude/icons/lock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212" y="2194560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140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(Cryptography)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821680" y="2834640"/>
            <a:ext cx="518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339840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pic>
        <p:nvPicPr>
          <p:cNvPr id="13" name="Image 2" descr="/home/claude/icons/image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092" y="2194560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128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Carrier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(Steganography)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71560" y="2834640"/>
            <a:ext cx="518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9189720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pic>
        <p:nvPicPr>
          <p:cNvPr id="17" name="Image 3" descr="/home/claude/icons/globe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2972" y="2194560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reverses the process: extract hidden data from the carrier, then decrypt with the shared key to recover the original message.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B45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1" name="Image 4" descr="/home/claude/icons/shield_00D9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120640"/>
            <a:ext cx="822960" cy="8229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920240" y="50749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even if the hidden channel is discovered, the payload remains encrypted; even if encryption is eventually broken, the attacker must first locate the data.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73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Carrier &amp; Message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933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cover image and define the secret text/file to hide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0" cy="384048"/>
          </a:xfrm>
          <a:prstGeom prst="line">
            <a:avLst/>
          </a:prstGeom>
          <a:noFill/>
          <a:ln w="19050">
            <a:solidFill>
              <a:srgbClr val="C7CE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328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Payload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852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AES-256 encryption to the secret message before embedding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08376"/>
            <a:ext cx="0" cy="384048"/>
          </a:xfrm>
          <a:prstGeom prst="line">
            <a:avLst/>
          </a:prstGeom>
          <a:noFill/>
          <a:ln w="19050">
            <a:solidFill>
              <a:srgbClr val="C7CE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924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via LSB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1246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encrypted bits into the least significant bits of pixel values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867912"/>
            <a:ext cx="0" cy="384048"/>
          </a:xfrm>
          <a:prstGeom prst="line">
            <a:avLst/>
          </a:prstGeom>
          <a:noFill/>
          <a:ln w="19050">
            <a:solidFill>
              <a:srgbClr val="C7CED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Decrypt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bits from the stego-image, then decrypt with the shared key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727448"/>
            <a:ext cx="0" cy="384048"/>
          </a:xfrm>
          <a:prstGeom prst="line">
            <a:avLst/>
          </a:prstGeom>
          <a:noFill/>
          <a:ln w="19050">
            <a:solidFill>
              <a:srgbClr val="C7CED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51114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Output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4315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original vs stego-image for visual and statistical differences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78040" y="1691640"/>
            <a:ext cx="4434840" cy="448056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pic>
        <p:nvPicPr>
          <p:cNvPr id="29" name="Image 0" descr="/home/claude/icons/cogs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96596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092440" y="2011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7498080" y="2660904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25328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77240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&amp; automation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98080" y="322783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772400" y="33741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pixel manipulation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98080" y="3794760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8" name="Text 35"/>
          <p:cNvSpPr/>
          <p:nvPr/>
        </p:nvSpPr>
        <p:spPr>
          <a:xfrm>
            <a:off x="7772400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772400" y="39410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/ decryption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98080" y="4361688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0" y="4233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772400" y="4507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bit operations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498080" y="4928616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4" name="Text 41"/>
          <p:cNvSpPr/>
          <p:nvPr/>
        </p:nvSpPr>
        <p:spPr>
          <a:xfrm>
            <a:off x="7772400" y="4800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CLI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772400" y="5074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crypto output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498080" y="5495544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7" name="Text 44"/>
          <p:cNvSpPr/>
          <p:nvPr/>
        </p:nvSpPr>
        <p:spPr>
          <a:xfrm>
            <a:off x="7772400" y="5367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7772400" y="5641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testing &amp; visualization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Results Analysis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PSNR = less visible distortion. Quality degrades as more data is embedded, confirming the capacity/quality trade-off.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0" y="16002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9AA3B5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0" y="16002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66760" y="1600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encryption + embedding time (100 KB payload)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27432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9AA3B5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7432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36676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recovery accuracy after extraction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38862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9AA3B5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38862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 dB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66760" y="3886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PSNR — visually indistinguishable to humans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50292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0FB"/>
          </a:solidFill>
          <a:ln/>
        </p:spPr>
      </p:sp>
      <p:pic>
        <p:nvPicPr>
          <p:cNvPr id="16" name="Image 0" descr="/home/claude/icons/search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3492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50292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(chi-square) confirmed stego-images showed no significant deviation from natural image noise patterns.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techniques are used together and independently today.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6" name="Image 0" descr="/home/claude/icons/university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TLS/AES encryption secures transactions; watermarking protects digital documents.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33672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92024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11" name="Image 1" descr="/home/claude/icons/hospital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56032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encrypted at rest; medical images steganographically watermarked for authenticity.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18704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47304" y="192024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16" name="Image 2" descr="/home/claude/icons/fingerprint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33104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47304" y="256032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ownership data hidden in images, audio, and video content.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21" name="Image 3" descr="/home/claude/icons/usersecret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330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00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and activists in restrictive regions hide messages inside ordinary images.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33672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416052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26" name="Image 4" descr="/home/claude/icons/shield_00D9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41330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Defense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62272" y="4800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techniques for classified communication resistant to interception.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18704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02B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47304" y="416052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31" name="Image 5" descr="/home/claude/icons/globe_00D9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33104" y="41330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Messaging Apps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47304" y="4800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protocols (Signal Protocol) protect everyday communications.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1828800" cy="0"/>
          </a:xfrm>
          <a:prstGeom prst="line">
            <a:avLst/>
          </a:prstGeom>
          <a:noFill/>
          <a:ln w="3175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202B63"/>
          </a:solidFill>
          <a:ln/>
        </p:spPr>
      </p:sp>
      <p:pic>
        <p:nvPicPr>
          <p:cNvPr id="7" name="Image 0" descr="/home/claude/icons/balance_00D9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013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45920" y="215798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content; steganography protects the fact that content exists at 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202B63"/>
          </a:solidFill>
          <a:ln/>
        </p:spPr>
      </p:sp>
      <p:pic>
        <p:nvPicPr>
          <p:cNvPr id="11" name="Image 1" descr="/home/claude/icons/shield_00D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175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8529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security wins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45920" y="32095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— encrypt, then embed — gives significantly stronger protection than either alone.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rgbClr val="202B63"/>
          </a:solidFill>
          <a:ln/>
        </p:spPr>
      </p:sp>
      <p:pic>
        <p:nvPicPr>
          <p:cNvPr id="15" name="Image 2" descr="/home/claude/icons/chart_00D9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690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90448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are real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645920" y="426110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trades capacity and robustness for stealth; cryptography trades visibility for strength.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rgbClr val="202B63"/>
          </a:solidFill>
          <a:ln/>
        </p:spPr>
      </p:sp>
      <p:pic>
        <p:nvPicPr>
          <p:cNvPr id="19" name="Image 3" descr="/home/claude/icons/globe_00D9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1206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95604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real-world relevance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645920" y="531266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secure messaging to watermarking to covert communication, both remain essential today.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" y="6172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1046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Mohapatra</cp:lastModifiedBy>
  <cp:revision>2</cp:revision>
  <dcterms:created xsi:type="dcterms:W3CDTF">2026-07-14T22:32:22Z</dcterms:created>
  <dcterms:modified xsi:type="dcterms:W3CDTF">2026-07-15T06:07:01Z</dcterms:modified>
</cp:coreProperties>
</file>